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64" r:id="rId5"/>
    <p:sldId id="266" r:id="rId6"/>
    <p:sldId id="265" r:id="rId7"/>
    <p:sldId id="259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9" autoAdjust="0"/>
    <p:restoredTop sz="94660"/>
  </p:normalViewPr>
  <p:slideViewPr>
    <p:cSldViewPr snapToGrid="0">
      <p:cViewPr varScale="1">
        <p:scale>
          <a:sx n="87" d="100"/>
          <a:sy n="87" d="100"/>
        </p:scale>
        <p:origin x="6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BF1ED-A6C6-4B35-90D4-9D6CA464733C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BC9C67-AC51-4CF7-A5D3-79172337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73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https://www.forbes.com/cloud100/list/#header:funding_sortreverse:true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C9C67-AC51-4CF7-A5D3-79172337AD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41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https://www.howtogeek.com/180167/htg-explains-what-is-github-and-what-do-geeks-use-it-for/</a:t>
            </a:r>
          </a:p>
          <a:p>
            <a:r>
              <a:rPr lang="en-US" dirty="0"/>
              <a:t>https://www.thebalance.com/what-is-github-and-why-should-i-use-it-2071946</a:t>
            </a:r>
          </a:p>
          <a:p>
            <a:r>
              <a:rPr lang="en-US" dirty="0"/>
              <a:t>https://www.youtube.com/watch?v=uUuTYDg9XoI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C9C67-AC51-4CF7-A5D3-79172337AD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47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http://searchitoperations.techtarget.com/definition/GitHub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C9C67-AC51-4CF7-A5D3-79172337AD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54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https://diversity.github.com/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C9C67-AC51-4CF7-A5D3-79172337AD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36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https://www.paysa.com/salaries/github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C9C67-AC51-4CF7-A5D3-79172337AD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64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https://boards.greenhouse.io/github/jobs/858389#.WeUFH2iPLic</a:t>
            </a:r>
          </a:p>
          <a:p>
            <a:r>
              <a:rPr lang="en-US" dirty="0"/>
              <a:t>https://www.glassdoor.com/Interview/GitHub-Interview-Questions-E671945_P4.htm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C9C67-AC51-4CF7-A5D3-79172337AD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83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https://www.wikihow.com/Start-a-Software-Company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C9C67-AC51-4CF7-A5D3-79172337AD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76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https://career.guru99.com/top-40-interview-questions-on-git/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C9C67-AC51-4CF7-A5D3-79172337AD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10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2E4-DCDC-4946-9AE1-FAA48DB0C3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9FFFF-3E50-4749-838F-E65555056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F8578-D3A9-4D3F-81BB-20490E51A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8071E-752E-43BF-9C64-E23E484322C1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99E09-3F2F-44B5-BFFB-8E9B06B58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9B11F-8810-45BE-BD64-AE7B39DAA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24B0-F035-4DE6-9B4A-80E38F06D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40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99007-AFB1-43CC-9834-0F47842FD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F4D08-A12B-413C-BEDC-1862C54A6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920B8-BA66-447E-9DFA-94730D851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8071E-752E-43BF-9C64-E23E484322C1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251EC-02F0-42C0-9E28-43FD1F9B4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5DCB4-1CE3-44CA-9C59-595A2B0C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24B0-F035-4DE6-9B4A-80E38F06D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6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E9DE5-1ED8-4117-9B41-41684E030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28992-7708-4796-A3A1-2A8632E01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58492-CB63-4A94-9593-85DCF0D27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8071E-752E-43BF-9C64-E23E484322C1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66FCA-51C2-46F0-B9AE-035F3D322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E53BA-8BA9-4A61-9D6B-63117A633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24B0-F035-4DE6-9B4A-80E38F06D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90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48F80-DBEC-47E3-882B-25E442001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27581-3FAB-4FD2-8E2C-3FBA11FD7F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71E7E-CB83-42C0-8367-37C0040C3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05F84-28ED-4B90-96DB-328672A36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8071E-752E-43BF-9C64-E23E484322C1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9BC95-7DBF-4782-988F-85A4D0DCA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AD65A-44C0-40CC-A2E4-A3797496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24B0-F035-4DE6-9B4A-80E38F06D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1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45015-ED2B-466B-86A3-91A550607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E9925-969D-4614-A9D6-067D23852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0F5459-DDC5-4A0C-8F9B-02C8EFC55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0CC5C8-A23D-41B3-A3F0-DAC3770B2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0B9899-92DB-49DD-9D89-256700D962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38E526-BFBC-4E7B-A414-7E4DA4FDE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8071E-752E-43BF-9C64-E23E484322C1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177514-E546-4144-B2AC-FEEEC5580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BB71BA-8F75-4164-823A-1F18A5589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24B0-F035-4DE6-9B4A-80E38F06D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5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51D33-D949-4ED3-AFCE-A36E98FDF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CD7627-E2F6-4AD8-9E3A-48005FFD8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8071E-752E-43BF-9C64-E23E484322C1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2A8D01-CD90-40D7-A20C-97012DED7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11BB41-E6BF-4D6B-87AB-1E4CF2D95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24B0-F035-4DE6-9B4A-80E38F06D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44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31A569-F083-4B59-B863-4E8F5802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8071E-752E-43BF-9C64-E23E484322C1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BCBA44-473C-45BD-A012-77E1744A5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B0D82-C209-4FFA-9212-03D104C97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24B0-F035-4DE6-9B4A-80E38F06D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672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5F123-95CC-4AA5-B911-C2C7B549B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828C1-E8EA-42AA-9EB6-623AB7885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291C5-D02C-475E-8560-B4DD7608C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BEE41-D99F-4382-8FE5-10E339B2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8071E-752E-43BF-9C64-E23E484322C1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DD659-6379-4A55-ABCF-1D22ADDB2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66017-729F-444F-AE59-397C2B44B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24B0-F035-4DE6-9B4A-80E38F06D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5F49-ABCD-4D04-A3E4-4B32FC2A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0D0F8-1257-4F60-AEBD-BD33CE6F13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AADBF7-B3E6-43EC-B19A-05D37EC01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4847B-20CC-4D52-88DC-2A1EF1FD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8071E-752E-43BF-9C64-E23E484322C1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71A17-9A26-46FB-AAE4-6EEBB9DC7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DA52A-31E2-4BED-B8F5-23212554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24B0-F035-4DE6-9B4A-80E38F06D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21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0C8EB-4F77-4871-8BFA-BBCDAA48A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6FADD8-6B9B-4E80-8A2E-2345E8648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C109F-1CCA-43FA-B0E1-A5D1BB62D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8071E-752E-43BF-9C64-E23E484322C1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92EF4-8213-4005-B0A2-C5445A216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478BC-7772-4E11-AF0E-A67305A6F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24B0-F035-4DE6-9B4A-80E38F06D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1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66153-4AF0-4411-B387-6A11448F3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115631-C520-4585-B51B-4F490EDF3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75DB1-C457-4479-9A17-F57E475AD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8071E-752E-43BF-9C64-E23E484322C1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452FA-79CE-4299-9F2D-9C61E0112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0BA74-6EF9-4592-977F-7046ED85F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24B0-F035-4DE6-9B4A-80E38F06D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66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ACCD4-AC58-438B-8535-B6C77F893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24992-8F53-4F8D-9421-6E9EF0E14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F4990-65C1-4FAA-8E60-4D2A94CDA4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8071E-752E-43BF-9C64-E23E484322C1}" type="datetimeFigureOut">
              <a:rPr lang="en-US" smtClean="0"/>
              <a:t>10/22/2017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E8761-3214-486C-BEF9-88C8B2E3A3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D2F5B-80D1-413D-89C8-9638C1395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3524B0-F035-4DE6-9B4A-80E38F06D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64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ollections/projects-that-power-github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-RhhP7kv57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oards.greenhouse.io/github/jobs/858389#.WeUFH2iPLic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A0576B0-CD8C-4661-95C8-A9F2CE7CDDB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7712" y="-3324"/>
            <a:ext cx="4724288" cy="6861324"/>
          </a:xfrm>
          <a:prstGeom prst="rect">
            <a:avLst/>
          </a:prstGeom>
          <a:solidFill>
            <a:schemeClr val="tx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FF60E2B-3919-423C-B1FF-56CDE668116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7712" y="0"/>
            <a:ext cx="4319042" cy="6858000"/>
          </a:xfrm>
          <a:custGeom>
            <a:avLst/>
            <a:gdLst>
              <a:gd name="connsiteX0" fmla="*/ 0 w 4319042"/>
              <a:gd name="connsiteY0" fmla="*/ 0 h 6858000"/>
              <a:gd name="connsiteX1" fmla="*/ 1142888 w 4319042"/>
              <a:gd name="connsiteY1" fmla="*/ 0 h 6858000"/>
              <a:gd name="connsiteX2" fmla="*/ 4319042 w 4319042"/>
              <a:gd name="connsiteY2" fmla="*/ 6858000 h 6858000"/>
              <a:gd name="connsiteX3" fmla="*/ 0 w 43190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9042" h="6858000">
                <a:moveTo>
                  <a:pt x="0" y="0"/>
                </a:moveTo>
                <a:lnTo>
                  <a:pt x="1142888" y="0"/>
                </a:lnTo>
                <a:lnTo>
                  <a:pt x="431904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922D24C-AE3C-4D0B-85E7-B6D309F7A6A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995082" y="643467"/>
            <a:ext cx="5571066" cy="557106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95A1419-C941-4E7C-9A10-D093595E3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35619" y="886354"/>
            <a:ext cx="3751135" cy="2387600"/>
          </a:xfrm>
        </p:spPr>
        <p:txBody>
          <a:bodyPr>
            <a:noAutofit/>
          </a:bodyPr>
          <a:lstStyle/>
          <a:p>
            <a:r>
              <a:rPr lang="en-US" sz="9600" b="1" dirty="0">
                <a:solidFill>
                  <a:schemeClr val="bg1"/>
                </a:solidFill>
              </a:rPr>
              <a:t>Github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A9E6DD2A-941C-4F37-9136-8108F8F35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2549" y="3602038"/>
            <a:ext cx="3308131" cy="1655762"/>
          </a:xfrm>
        </p:spPr>
        <p:txBody>
          <a:bodyPr>
            <a:no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By Kham Pok and Kiyunna Flourius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74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A7220D-2792-4430-A5EC-E07630EDC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002" y="365125"/>
            <a:ext cx="10520702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About the Company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34C6A-BAAF-4873-BF03-A85C6AA32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06" y="1501107"/>
            <a:ext cx="10515598" cy="4835399"/>
          </a:xfrm>
        </p:spPr>
        <p:txBody>
          <a:bodyPr>
            <a:normAutofit/>
          </a:bodyPr>
          <a:lstStyle/>
          <a:p>
            <a:r>
              <a:rPr lang="en-US" sz="2400" dirty="0"/>
              <a:t>Founded: February 8, 2008</a:t>
            </a:r>
            <a:endParaRPr lang="en-US" sz="2400" dirty="0">
              <a:solidFill>
                <a:schemeClr val="tx1"/>
              </a:solidFill>
            </a:endParaRPr>
          </a:p>
          <a:p>
            <a:pPr lvl="1"/>
            <a:r>
              <a:rPr lang="en-US" dirty="0"/>
              <a:t>Thomas “Tom” Preston-Werner</a:t>
            </a:r>
          </a:p>
          <a:p>
            <a:pPr lvl="1"/>
            <a:r>
              <a:rPr lang="en-US" dirty="0"/>
              <a:t>Chris Wanstrath (CEO)</a:t>
            </a:r>
          </a:p>
          <a:p>
            <a:pPr lvl="1"/>
            <a:r>
              <a:rPr lang="en-US" dirty="0"/>
              <a:t>PJ Hyett (COO)</a:t>
            </a:r>
          </a:p>
          <a:p>
            <a:pPr marL="176213" lvl="1" indent="-176213"/>
            <a:r>
              <a:rPr lang="en-US" dirty="0"/>
              <a:t>Headquarters</a:t>
            </a:r>
          </a:p>
          <a:p>
            <a:pPr marL="359093" lvl="2" indent="-176213"/>
            <a:r>
              <a:rPr lang="en-US" sz="2400" dirty="0"/>
              <a:t>San Francisco, California</a:t>
            </a:r>
            <a:endParaRPr lang="en-US" dirty="0"/>
          </a:p>
          <a:p>
            <a:pPr marL="182563" lvl="1" indent="-182563"/>
            <a:r>
              <a:rPr lang="en-US" dirty="0">
                <a:solidFill>
                  <a:schemeClr val="tx1"/>
                </a:solidFill>
              </a:rPr>
              <a:t>First Commit</a:t>
            </a:r>
          </a:p>
          <a:p>
            <a:pPr marL="365443" lvl="2" indent="-182563"/>
            <a:r>
              <a:rPr lang="en-US" sz="2400" dirty="0">
                <a:solidFill>
                  <a:schemeClr val="tx1"/>
                </a:solidFill>
              </a:rPr>
              <a:t>October 2007</a:t>
            </a:r>
          </a:p>
          <a:p>
            <a:pPr marL="182563" lvl="1" indent="-182563"/>
            <a:r>
              <a:rPr lang="en-US" dirty="0"/>
              <a:t>Launched</a:t>
            </a:r>
          </a:p>
          <a:p>
            <a:pPr marL="365443" lvl="2" indent="-182563"/>
            <a:r>
              <a:rPr lang="en-US" sz="2400" dirty="0"/>
              <a:t>April 10, 2008</a:t>
            </a:r>
            <a:endParaRPr lang="en-US" sz="2400" dirty="0">
              <a:solidFill>
                <a:schemeClr val="tx1"/>
              </a:solidFill>
            </a:endParaRPr>
          </a:p>
          <a:p>
            <a:pPr marL="176213" lvl="1" indent="-176213"/>
            <a:r>
              <a:rPr lang="en-US" dirty="0"/>
              <a:t>69+ million projects hosted</a:t>
            </a:r>
          </a:p>
          <a:p>
            <a:pPr marL="176213" lvl="1" indent="-176213"/>
            <a:r>
              <a:rPr lang="en-US" dirty="0"/>
              <a:t>About 25 million users</a:t>
            </a:r>
          </a:p>
          <a:p>
            <a:pPr marL="176213" lvl="1" indent="-17621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068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28">
            <a:extLst>
              <a:ext uri="{FF2B5EF4-FFF2-40B4-BE49-F238E27FC236}">
                <a16:creationId xmlns:a16="http://schemas.microsoft.com/office/drawing/2014/main" id="{3FCC729B-E528-40C3-82D3-BA4375575E8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960120" y="0"/>
            <a:ext cx="11218661" cy="6858000"/>
          </a:xfrm>
          <a:custGeom>
            <a:avLst/>
            <a:gdLst>
              <a:gd name="connsiteX0" fmla="*/ 0 w 11218661"/>
              <a:gd name="connsiteY0" fmla="*/ 0 h 6858000"/>
              <a:gd name="connsiteX1" fmla="*/ 8042507 w 11218661"/>
              <a:gd name="connsiteY1" fmla="*/ 0 h 6858000"/>
              <a:gd name="connsiteX2" fmla="*/ 11218661 w 11218661"/>
              <a:gd name="connsiteY2" fmla="*/ 6858000 h 6858000"/>
              <a:gd name="connsiteX3" fmla="*/ 0 w 1121866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18661" h="6858000">
                <a:moveTo>
                  <a:pt x="0" y="0"/>
                </a:moveTo>
                <a:lnTo>
                  <a:pt x="8042507" y="0"/>
                </a:lnTo>
                <a:lnTo>
                  <a:pt x="1121866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 26">
            <a:extLst>
              <a:ext uri="{FF2B5EF4-FFF2-40B4-BE49-F238E27FC236}">
                <a16:creationId xmlns:a16="http://schemas.microsoft.com/office/drawing/2014/main" id="{58F1FB8D-1842-4A04-998D-6CF047AB279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420248" y="0"/>
            <a:ext cx="10771752" cy="6858000"/>
          </a:xfrm>
          <a:custGeom>
            <a:avLst/>
            <a:gdLst>
              <a:gd name="connsiteX0" fmla="*/ 0 w 10771752"/>
              <a:gd name="connsiteY0" fmla="*/ 0 h 6858000"/>
              <a:gd name="connsiteX1" fmla="*/ 7595598 w 10771752"/>
              <a:gd name="connsiteY1" fmla="*/ 0 h 6858000"/>
              <a:gd name="connsiteX2" fmla="*/ 10771752 w 10771752"/>
              <a:gd name="connsiteY2" fmla="*/ 6858000 h 6858000"/>
              <a:gd name="connsiteX3" fmla="*/ 0 w 107717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71752" h="6858000">
                <a:moveTo>
                  <a:pt x="0" y="0"/>
                </a:moveTo>
                <a:lnTo>
                  <a:pt x="7595598" y="0"/>
                </a:lnTo>
                <a:lnTo>
                  <a:pt x="107717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F1D518AA-AFD6-4BCF-A4D5-8993FCDDC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" y="1715781"/>
            <a:ext cx="3425957" cy="34259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A723B6-2A30-400E-AD4C-3E659ECF9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0905" y="166651"/>
            <a:ext cx="7164493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What is Github?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439154" y="1217372"/>
            <a:ext cx="7161017" cy="4979193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Git is an open – source version control system developed in 2005 by Linus Torvalds, the creator of Linux operating system kernel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Version control: Keeps track of every modification to the code in a special database. This allows developers to compare earlier versions and make changes to the code, while minimizing disruption to the team members</a:t>
            </a:r>
          </a:p>
          <a:p>
            <a:r>
              <a:rPr lang="en-US" sz="2400" dirty="0">
                <a:solidFill>
                  <a:schemeClr val="bg1"/>
                </a:solidFill>
              </a:rPr>
              <a:t>Github is an open –source code hosting site. It is a cloud service that allows users to store, modify, and share source code repositories with other developers.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Front End: HTML, CSS, JavaScript</a:t>
            </a:r>
          </a:p>
          <a:p>
            <a:r>
              <a:rPr lang="en-US" sz="2400" dirty="0">
                <a:solidFill>
                  <a:schemeClr val="bg1"/>
                </a:solidFill>
              </a:rPr>
              <a:t>Back End: Ruby, SQL (MySQL)</a:t>
            </a:r>
          </a:p>
          <a:p>
            <a:r>
              <a:rPr lang="en-US" sz="2400" dirty="0">
                <a:solidFill>
                  <a:schemeClr val="bg1"/>
                </a:solidFill>
                <a:hlinkClick r:id="rId4"/>
              </a:rPr>
              <a:t>https://github.com/collections/projects-that-power-github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460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>
            <a:extLst>
              <a:ext uri="{FF2B5EF4-FFF2-40B4-BE49-F238E27FC236}">
                <a16:creationId xmlns:a16="http://schemas.microsoft.com/office/drawing/2014/main" id="{FEF085B8-A2C0-4A6F-B663-CCC56F3CD37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37AAFB-D608-4260-AC54-DAD3A0292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Github 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BF741F-4061-407B-83B7-D7C258534E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98182"/>
            <a:ext cx="5096934" cy="4166130"/>
          </a:xfrm>
        </p:spPr>
        <p:txBody>
          <a:bodyPr>
            <a:noAutofit/>
          </a:bodyPr>
          <a:lstStyle/>
          <a:p>
            <a:r>
              <a:rPr lang="en-US" sz="2000" b="1" dirty="0"/>
              <a:t>Fork</a:t>
            </a:r>
          </a:p>
          <a:p>
            <a:pPr lvl="1"/>
            <a:r>
              <a:rPr lang="en-US" sz="2000" dirty="0"/>
              <a:t>Also known as a branch</a:t>
            </a:r>
          </a:p>
          <a:p>
            <a:pPr lvl="1"/>
            <a:r>
              <a:rPr lang="en-US" sz="2000" dirty="0"/>
              <a:t>A repository that has been copied from one member’s account to another member’s account</a:t>
            </a:r>
          </a:p>
          <a:p>
            <a:pPr lvl="1"/>
            <a:r>
              <a:rPr lang="en-US" sz="2000" dirty="0"/>
              <a:t>Allows developer to make modifications without affecting the original code</a:t>
            </a:r>
          </a:p>
          <a:p>
            <a:r>
              <a:rPr lang="en-US" sz="2000" b="1" dirty="0"/>
              <a:t>Pull Request</a:t>
            </a:r>
          </a:p>
          <a:p>
            <a:pPr lvl="1"/>
            <a:r>
              <a:rPr lang="en-US" sz="2000" dirty="0"/>
              <a:t>Allows developer to share modifications to the owner of the original repository</a:t>
            </a:r>
          </a:p>
          <a:p>
            <a:r>
              <a:rPr lang="en-US" sz="2000" b="1" dirty="0"/>
              <a:t>Merge</a:t>
            </a:r>
            <a:r>
              <a:rPr lang="en-US" sz="2000" dirty="0"/>
              <a:t> </a:t>
            </a:r>
          </a:p>
          <a:p>
            <a:pPr lvl="1"/>
            <a:r>
              <a:rPr lang="en-US" sz="2000" dirty="0"/>
              <a:t>Allows the owner of the original repository to merge the developers modifications into the repository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68AD5F-37EF-4C34-A0E6-0012EAA53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866" y="2010833"/>
            <a:ext cx="5096933" cy="416613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Github Gist</a:t>
            </a:r>
            <a:r>
              <a:rPr lang="en-US" dirty="0"/>
              <a:t> allows GitHub users to share pieces of code or other notes.</a:t>
            </a:r>
          </a:p>
          <a:p>
            <a:r>
              <a:rPr lang="en-US" b="1" dirty="0"/>
              <a:t>GitHub Flow</a:t>
            </a:r>
            <a:r>
              <a:rPr lang="en-US" dirty="0"/>
              <a:t> is a lightweight, branch-based workflow for regularly updated deployments.</a:t>
            </a:r>
          </a:p>
          <a:p>
            <a:r>
              <a:rPr lang="en-US" b="1" dirty="0"/>
              <a:t>GitHub Pages </a:t>
            </a:r>
            <a:r>
              <a:rPr lang="en-US" dirty="0"/>
              <a:t>are static webpages to host a project, pulling information directly from an individual's or organization's GitHub repository.</a:t>
            </a:r>
          </a:p>
          <a:p>
            <a:r>
              <a:rPr lang="en-US" b="1" dirty="0"/>
              <a:t>GitHub Desktop</a:t>
            </a:r>
            <a:r>
              <a:rPr lang="en-US" dirty="0"/>
              <a:t> enables users to access GitHub from Windows or Mac desktops, rather than going to GitHub's website.</a:t>
            </a:r>
          </a:p>
          <a:p>
            <a:r>
              <a:rPr lang="en-US" b="1" dirty="0"/>
              <a:t>GitHub Student Developer Pack</a:t>
            </a:r>
            <a:r>
              <a:rPr lang="en-US" dirty="0"/>
              <a:t> is a free offering of developer tools that is limited to students, and includes cloud resources, programming tools and support, and GitHub access.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22572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A67B5B4-3A24-436E-B663-1B2EBFF8A0C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7630-B579-498C-9087-C721BE272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002" y="365125"/>
            <a:ext cx="10520702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Working at Github: The Perks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A1A4FBD6-9C54-4F25-BAEB-D0F31AEEC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892" y="1853799"/>
            <a:ext cx="10042922" cy="415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955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E54E90-80D1-42E4-A50B-82EE9C8CA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Employee Demographics</a:t>
            </a:r>
          </a:p>
        </p:txBody>
      </p:sp>
      <p:pic>
        <p:nvPicPr>
          <p:cNvPr id="6" name="Content Placeholder 5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917AB0D0-F671-405E-9247-9591C9F2F6C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61185"/>
            <a:ext cx="5097463" cy="3865955"/>
          </a:xfrm>
        </p:spPr>
      </p:pic>
      <p:pic>
        <p:nvPicPr>
          <p:cNvPr id="8" name="Content Placeholder 7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A8EA7630-34CB-4BFA-BEFE-2D2AE82110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280" y="2161185"/>
            <a:ext cx="4605520" cy="3865955"/>
          </a:xfrm>
        </p:spPr>
      </p:pic>
    </p:spTree>
    <p:extLst>
      <p:ext uri="{BB962C8B-B14F-4D97-AF65-F5344CB8AC3E}">
        <p14:creationId xmlns:p14="http://schemas.microsoft.com/office/powerpoint/2010/main" val="777955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5ECD06-BA88-4AED-AFF1-FC672DD39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649" y="74600"/>
            <a:ext cx="10520702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Working at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B121B-1500-48C4-8183-959CD49C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210" y="1400163"/>
            <a:ext cx="10515598" cy="5050643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chemeClr val="tx1">
                    <a:lumMod val="65000"/>
                  </a:schemeClr>
                </a:solidFill>
              </a:rPr>
              <a:t>Developer</a:t>
            </a:r>
            <a:r>
              <a:rPr lang="en-US" sz="2400" dirty="0"/>
              <a:t>			</a:t>
            </a:r>
            <a:r>
              <a:rPr lang="en-US" sz="2400" i="1" dirty="0">
                <a:solidFill>
                  <a:schemeClr val="tx1"/>
                </a:solidFill>
              </a:rPr>
              <a:t>$126K</a:t>
            </a:r>
          </a:p>
          <a:p>
            <a:pPr lvl="1"/>
            <a:r>
              <a:rPr lang="en-US" dirty="0"/>
              <a:t>Skills: Git, Ruby on Rails, Ruby, JavaScript, Agile Methodologies</a:t>
            </a:r>
          </a:p>
          <a:p>
            <a:pPr marL="182563" lvl="1" indent="-182563"/>
            <a:r>
              <a:rPr lang="en-US" b="1" dirty="0">
                <a:solidFill>
                  <a:schemeClr val="tx1">
                    <a:lumMod val="65000"/>
                  </a:schemeClr>
                </a:solidFill>
              </a:rPr>
              <a:t>Software Engineer</a:t>
            </a:r>
            <a:r>
              <a:rPr lang="en-US" dirty="0">
                <a:solidFill>
                  <a:schemeClr val="tx1">
                    <a:lumMod val="65000"/>
                  </a:schemeClr>
                </a:solidFill>
              </a:rPr>
              <a:t>	</a:t>
            </a:r>
            <a:r>
              <a:rPr lang="en-US" dirty="0"/>
              <a:t>	</a:t>
            </a:r>
            <a:r>
              <a:rPr lang="en-US" i="1" dirty="0">
                <a:solidFill>
                  <a:schemeClr val="tx1"/>
                </a:solidFill>
              </a:rPr>
              <a:t>$145K</a:t>
            </a:r>
          </a:p>
          <a:p>
            <a:pPr marL="639763" lvl="2" indent="-182563"/>
            <a:r>
              <a:rPr lang="en-US" sz="2400" dirty="0"/>
              <a:t>Skills: MySQL, JavaScript, HTML, Web Applications, CSS</a:t>
            </a:r>
          </a:p>
          <a:p>
            <a:pPr marL="182563" lvl="2" indent="-182563"/>
            <a:r>
              <a:rPr lang="en-US" sz="2400" b="1" dirty="0">
                <a:solidFill>
                  <a:schemeClr val="tx1">
                    <a:lumMod val="65000"/>
                  </a:schemeClr>
                </a:solidFill>
              </a:rPr>
              <a:t>Application Engineer</a:t>
            </a:r>
            <a:r>
              <a:rPr lang="en-US" sz="2400" dirty="0">
                <a:solidFill>
                  <a:schemeClr val="tx1">
                    <a:lumMod val="65000"/>
                  </a:schemeClr>
                </a:solidFill>
              </a:rPr>
              <a:t>	</a:t>
            </a:r>
            <a:r>
              <a:rPr lang="en-US" sz="2400" i="1" dirty="0">
                <a:solidFill>
                  <a:schemeClr val="tx1"/>
                </a:solidFill>
              </a:rPr>
              <a:t>$129K</a:t>
            </a:r>
          </a:p>
          <a:p>
            <a:pPr marL="639763" lvl="3" indent="-182563"/>
            <a:r>
              <a:rPr lang="en-US" sz="2400" dirty="0"/>
              <a:t>Skills: JavaScript, Git, HTML, Python, Ruby on Rails</a:t>
            </a:r>
          </a:p>
          <a:p>
            <a:pPr marL="182563" lvl="3" indent="-182563"/>
            <a:r>
              <a:rPr lang="en-US" sz="2400" b="1" dirty="0">
                <a:solidFill>
                  <a:schemeClr val="tx1">
                    <a:lumMod val="65000"/>
                  </a:schemeClr>
                </a:solidFill>
              </a:rPr>
              <a:t>Solutions Architect</a:t>
            </a:r>
            <a:r>
              <a:rPr lang="en-US" sz="2400" dirty="0"/>
              <a:t>		</a:t>
            </a:r>
            <a:r>
              <a:rPr lang="en-US" sz="2400" i="1" dirty="0">
                <a:solidFill>
                  <a:schemeClr val="tx1"/>
                </a:solidFill>
              </a:rPr>
              <a:t>$131K</a:t>
            </a:r>
          </a:p>
          <a:p>
            <a:pPr marL="639763" lvl="4" indent="-182563"/>
            <a:r>
              <a:rPr lang="en-US" sz="2400" dirty="0"/>
              <a:t>Skills: Git, Product Strategy, SAN, Management, Collaboration</a:t>
            </a:r>
          </a:p>
          <a:p>
            <a:pPr marL="182563" lvl="4" indent="-182563"/>
            <a:r>
              <a:rPr lang="en-US" sz="2400" b="1" dirty="0">
                <a:solidFill>
                  <a:schemeClr val="tx1">
                    <a:lumMod val="65000"/>
                  </a:schemeClr>
                </a:solidFill>
              </a:rPr>
              <a:t>Enterprise Architect</a:t>
            </a:r>
            <a:r>
              <a:rPr lang="en-US" sz="2400" dirty="0">
                <a:solidFill>
                  <a:srgbClr val="FFC000"/>
                </a:solidFill>
              </a:rPr>
              <a:t>	</a:t>
            </a:r>
            <a:r>
              <a:rPr lang="en-US" sz="2400" dirty="0"/>
              <a:t>	</a:t>
            </a:r>
            <a:r>
              <a:rPr lang="en-US" sz="2400" i="1" dirty="0">
                <a:solidFill>
                  <a:schemeClr val="tx1"/>
                </a:solidFill>
              </a:rPr>
              <a:t>$164K</a:t>
            </a:r>
          </a:p>
          <a:p>
            <a:pPr marL="639763" lvl="5" indent="-182563"/>
            <a:r>
              <a:rPr lang="en-US" sz="2400" dirty="0"/>
              <a:t>Skills: SaaS, JavaScript, Leadership, Management, Strategy</a:t>
            </a:r>
          </a:p>
          <a:p>
            <a:pPr marL="182563" lvl="5" indent="-182563"/>
            <a:r>
              <a:rPr lang="en-US" sz="2400" b="1" dirty="0">
                <a:solidFill>
                  <a:schemeClr val="tx1">
                    <a:lumMod val="65000"/>
                  </a:schemeClr>
                </a:solidFill>
              </a:rPr>
              <a:t>Senior Software Engineer</a:t>
            </a:r>
            <a:r>
              <a:rPr lang="en-US" sz="2400" dirty="0"/>
              <a:t>	</a:t>
            </a:r>
            <a:r>
              <a:rPr lang="en-US" sz="2400" i="1" dirty="0"/>
              <a:t>$194K</a:t>
            </a:r>
          </a:p>
          <a:p>
            <a:pPr marL="639763" lvl="6" indent="-182563"/>
            <a:r>
              <a:rPr lang="en-US" sz="2400" dirty="0"/>
              <a:t>Skills: Web Development, CSS, JavaScript, Software Development, Web Applications</a:t>
            </a:r>
          </a:p>
          <a:p>
            <a:pPr marL="365443" lvl="6" indent="-182563"/>
            <a:r>
              <a:rPr lang="en-US" sz="2400" dirty="0">
                <a:hlinkClick r:id="rId3"/>
              </a:rPr>
              <a:t>https://www.youtube.com/watch?v=-RhhP7kv57g</a:t>
            </a:r>
            <a:endParaRPr lang="en-US" sz="24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277840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EF085B8-A2C0-4A6F-B663-CCC56F3CD37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5778CE-B4C4-49B4-8BD7-A2CEDB85D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Getting a Job at Github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B6AB83-F919-4003-A08D-161440E74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0833"/>
            <a:ext cx="5096934" cy="416613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>
                    <a:lumMod val="65000"/>
                  </a:schemeClr>
                </a:solidFill>
              </a:rPr>
              <a:t>The Process</a:t>
            </a:r>
          </a:p>
          <a:p>
            <a:r>
              <a:rPr lang="en-US" sz="2400" dirty="0"/>
              <a:t>The process can take anywhere from 4 weeks – 2 months.</a:t>
            </a:r>
          </a:p>
          <a:p>
            <a:r>
              <a:rPr lang="en-US" sz="2400" dirty="0"/>
              <a:t> Take home project</a:t>
            </a:r>
          </a:p>
          <a:p>
            <a:r>
              <a:rPr lang="en-US" sz="2400" dirty="0"/>
              <a:t> A culture fit screen with two engineers from the team over Zoom</a:t>
            </a:r>
          </a:p>
          <a:p>
            <a:r>
              <a:rPr lang="en-US" sz="2400" dirty="0"/>
              <a:t>Full day of Interviews</a:t>
            </a:r>
          </a:p>
          <a:p>
            <a:pPr lvl="1"/>
            <a:r>
              <a:rPr lang="en-US" sz="2000" dirty="0"/>
              <a:t>Engineering practices</a:t>
            </a:r>
          </a:p>
          <a:p>
            <a:pPr lvl="1"/>
            <a:r>
              <a:rPr lang="en-US" sz="2000" dirty="0"/>
              <a:t>Technical interview</a:t>
            </a:r>
          </a:p>
          <a:p>
            <a:pPr lvl="1"/>
            <a:r>
              <a:rPr lang="en-US" sz="2000" dirty="0"/>
              <a:t>Social outlook</a:t>
            </a:r>
          </a:p>
          <a:p>
            <a:pPr lvl="1"/>
            <a:r>
              <a:rPr lang="en-US" sz="2000" dirty="0"/>
              <a:t>Hiring manager</a:t>
            </a:r>
          </a:p>
          <a:p>
            <a:r>
              <a:rPr lang="en-US" sz="2400" dirty="0">
                <a:hlinkClick r:id="rId3"/>
              </a:rPr>
              <a:t>https://boards.greenhouse.io/github/jobs/858389#.WeUFH2iPLic</a:t>
            </a:r>
            <a:endParaRPr lang="en-US" sz="2400" dirty="0"/>
          </a:p>
          <a:p>
            <a:pPr lvl="1"/>
            <a:endParaRPr lang="en-US" sz="2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B6F311-A20A-40B9-B429-7AE0334DE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866" y="2010833"/>
            <a:ext cx="5096933" cy="416613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>
                    <a:lumMod val="65000"/>
                  </a:schemeClr>
                </a:solidFill>
              </a:rPr>
              <a:t>Examples of Interview Questions</a:t>
            </a:r>
          </a:p>
          <a:p>
            <a:r>
              <a:rPr lang="en-US" sz="2600" dirty="0"/>
              <a:t>A lot of “Describe a time when…” questions</a:t>
            </a:r>
          </a:p>
          <a:p>
            <a:r>
              <a:rPr lang="en-US" sz="2600" dirty="0"/>
              <a:t>How would you explain a database to a 10 year old? SQL questions</a:t>
            </a:r>
          </a:p>
          <a:p>
            <a:r>
              <a:rPr lang="en-US" sz="2600" dirty="0"/>
              <a:t>Coding challenge: build a simplified version of battleship</a:t>
            </a:r>
          </a:p>
          <a:p>
            <a:r>
              <a:rPr lang="en-US" sz="2600" dirty="0"/>
              <a:t>As a young white male, how do you feel you can contribute to GitHub's diversity goals? </a:t>
            </a:r>
          </a:p>
          <a:p>
            <a:r>
              <a:rPr lang="en-US" sz="2600" dirty="0"/>
              <a:t>Re-implement a (specific) feature of git in a language of your choice.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436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A67B5B4-3A24-436E-B663-1B2EBFF8A0C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F525E6-4B15-4FDD-973A-027D81C41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002" y="136379"/>
            <a:ext cx="10520702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Similar Company: </a:t>
            </a:r>
            <a:r>
              <a:rPr lang="en-US" b="1" dirty="0" err="1"/>
              <a:t>GitFile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B30164-CA0D-463D-8350-4421C4466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002" y="1461941"/>
            <a:ext cx="10520702" cy="5055901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>
                <a:solidFill>
                  <a:schemeClr val="tx1">
                    <a:lumMod val="65000"/>
                  </a:schemeClr>
                </a:solidFill>
              </a:rPr>
              <a:t>Gain CS &amp; Business experience</a:t>
            </a:r>
          </a:p>
          <a:p>
            <a:pPr lvl="1"/>
            <a:r>
              <a:rPr lang="en-US" sz="9600" dirty="0"/>
              <a:t>Education, degree, or work experience</a:t>
            </a:r>
          </a:p>
          <a:p>
            <a:r>
              <a:rPr lang="en-US" sz="9600" dirty="0">
                <a:solidFill>
                  <a:schemeClr val="tx1">
                    <a:lumMod val="65000"/>
                  </a:schemeClr>
                </a:solidFill>
              </a:rPr>
              <a:t>Generate ideas for the company</a:t>
            </a:r>
          </a:p>
          <a:p>
            <a:pPr lvl="1"/>
            <a:r>
              <a:rPr lang="en-US" sz="9600" dirty="0"/>
              <a:t>Research, determine audience &amp; market</a:t>
            </a:r>
          </a:p>
          <a:p>
            <a:r>
              <a:rPr lang="en-US" sz="9600" dirty="0">
                <a:solidFill>
                  <a:schemeClr val="tx1">
                    <a:lumMod val="65000"/>
                  </a:schemeClr>
                </a:solidFill>
              </a:rPr>
              <a:t>Obtain patents and trademarks</a:t>
            </a:r>
          </a:p>
          <a:p>
            <a:r>
              <a:rPr lang="en-US" sz="9600" dirty="0">
                <a:solidFill>
                  <a:schemeClr val="tx1">
                    <a:lumMod val="65000"/>
                  </a:schemeClr>
                </a:solidFill>
              </a:rPr>
              <a:t>Create Business Plan</a:t>
            </a:r>
          </a:p>
          <a:p>
            <a:pPr lvl="1"/>
            <a:r>
              <a:rPr lang="en-US" sz="9600" dirty="0"/>
              <a:t>Determine legal structure of company – partnership</a:t>
            </a:r>
          </a:p>
          <a:p>
            <a:pPr lvl="1"/>
            <a:r>
              <a:rPr lang="en-US" sz="9600" dirty="0"/>
              <a:t>Register DBA name</a:t>
            </a:r>
          </a:p>
          <a:p>
            <a:pPr lvl="1"/>
            <a:r>
              <a:rPr lang="en-US" sz="9600" dirty="0"/>
              <a:t>Hire accountant and attorney for licensing, taxes, and insurance</a:t>
            </a:r>
          </a:p>
          <a:p>
            <a:pPr lvl="1"/>
            <a:r>
              <a:rPr lang="en-US" sz="9600" dirty="0"/>
              <a:t>Raise money </a:t>
            </a:r>
          </a:p>
          <a:p>
            <a:pPr lvl="2"/>
            <a:r>
              <a:rPr lang="en-US" sz="9600" dirty="0"/>
              <a:t>Grants, Loans, Investors, Online funding services</a:t>
            </a:r>
          </a:p>
          <a:p>
            <a:pPr lvl="1"/>
            <a:r>
              <a:rPr lang="en-US" sz="9600" dirty="0"/>
              <a:t>Purchase computers, software, data storage capability, servers, </a:t>
            </a:r>
            <a:r>
              <a:rPr lang="en-US" sz="9600" dirty="0" err="1"/>
              <a:t>etc</a:t>
            </a:r>
            <a:endParaRPr lang="en-US" sz="9600" dirty="0"/>
          </a:p>
          <a:p>
            <a:pPr lvl="1"/>
            <a:r>
              <a:rPr lang="en-US" sz="9600" dirty="0"/>
              <a:t>Hire developers to create, test, and maintain the product</a:t>
            </a:r>
          </a:p>
          <a:p>
            <a:pPr lvl="1"/>
            <a:r>
              <a:rPr lang="en-US" sz="9600" dirty="0"/>
              <a:t>Market Product</a:t>
            </a:r>
          </a:p>
          <a:p>
            <a:pPr lvl="2"/>
            <a:r>
              <a:rPr lang="en-US" sz="9600" dirty="0"/>
              <a:t>Friends, family, social media, newspapers, marketing professionals</a:t>
            </a:r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endParaRPr lang="en-US" sz="800" dirty="0"/>
          </a:p>
          <a:p>
            <a:endParaRPr lang="en-US" sz="400" dirty="0"/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6646ED-3D73-481E-9AFD-B9BD4AC9D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7418" y="249303"/>
            <a:ext cx="1839336" cy="242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259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pic>
        <p:nvPicPr>
          <p:cNvPr id="18" name="Content Placeholder 4">
            <a:extLst>
              <a:ext uri="{FF2B5EF4-FFF2-40B4-BE49-F238E27FC236}">
                <a16:creationId xmlns:a16="http://schemas.microsoft.com/office/drawing/2014/main" id="{56614AD0-3C01-4F9E-8CD6-4CE20D660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301" y="1820333"/>
            <a:ext cx="4036181" cy="4036181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4965EAE-E41A-435F-B993-07E824B6C97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0"/>
            <a:ext cx="7539895" cy="6858000"/>
          </a:xfrm>
          <a:custGeom>
            <a:avLst/>
            <a:gdLst>
              <a:gd name="connsiteX0" fmla="*/ 7539895 w 7539895"/>
              <a:gd name="connsiteY0" fmla="*/ 6858000 h 6858000"/>
              <a:gd name="connsiteX1" fmla="*/ 0 w 7539895"/>
              <a:gd name="connsiteY1" fmla="*/ 6858000 h 6858000"/>
              <a:gd name="connsiteX2" fmla="*/ 0 w 7539895"/>
              <a:gd name="connsiteY2" fmla="*/ 0 h 6858000"/>
              <a:gd name="connsiteX3" fmla="*/ 4363741 w 753989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9895" h="6858000">
                <a:moveTo>
                  <a:pt x="753989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4363741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52F8994-E6D4-4311-9548-C3607BC4364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7092985" cy="6858000"/>
          </a:xfrm>
          <a:custGeom>
            <a:avLst/>
            <a:gdLst>
              <a:gd name="connsiteX0" fmla="*/ 7092985 w 7092985"/>
              <a:gd name="connsiteY0" fmla="*/ 6858000 h 6858000"/>
              <a:gd name="connsiteX1" fmla="*/ 0 w 7092985"/>
              <a:gd name="connsiteY1" fmla="*/ 6858000 h 6858000"/>
              <a:gd name="connsiteX2" fmla="*/ 0 w 7092985"/>
              <a:gd name="connsiteY2" fmla="*/ 0 h 6858000"/>
              <a:gd name="connsiteX3" fmla="*/ 3916831 w 709298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2985" h="6858000">
                <a:moveTo>
                  <a:pt x="709298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916831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0B676-9393-4E3E-A627-AEFCE2134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529943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Interview</a:t>
            </a:r>
          </a:p>
        </p:txBody>
      </p:sp>
      <p:sp>
        <p:nvSpPr>
          <p:cNvPr id="24" name="Content Placeholder 19"/>
          <p:cNvSpPr>
            <a:spLocks noGrp="1"/>
          </p:cNvSpPr>
          <p:nvPr>
            <p:ph sz="half" idx="2"/>
          </p:nvPr>
        </p:nvSpPr>
        <p:spPr>
          <a:xfrm>
            <a:off x="489112" y="1556684"/>
            <a:ext cx="4128169" cy="3399518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What is a ‘conflict’ in git?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 ‘conflict’ arises when the commit that has to be merged has some change in one place, and the current commit also has a change at the same place. Git will not be able to predict which change should take precedence.</a:t>
            </a:r>
          </a:p>
        </p:txBody>
      </p:sp>
    </p:spTree>
    <p:extLst>
      <p:ext uri="{BB962C8B-B14F-4D97-AF65-F5344CB8AC3E}">
        <p14:creationId xmlns:p14="http://schemas.microsoft.com/office/powerpoint/2010/main" val="3856236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22232</TotalTime>
  <Words>639</Words>
  <Application>Microsoft Office PowerPoint</Application>
  <PresentationFormat>Widescreen</PresentationFormat>
  <Paragraphs>110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Github</vt:lpstr>
      <vt:lpstr>About the Company</vt:lpstr>
      <vt:lpstr>What is Github?</vt:lpstr>
      <vt:lpstr>Github Features</vt:lpstr>
      <vt:lpstr>Working at Github: The Perks</vt:lpstr>
      <vt:lpstr>Employee Demographics</vt:lpstr>
      <vt:lpstr>Working at Github</vt:lpstr>
      <vt:lpstr>Getting a Job at Github</vt:lpstr>
      <vt:lpstr>Similar Company: GitFile</vt:lpstr>
      <vt:lpstr>Interview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</dc:title>
  <dc:creator>Kiyunna Flourius</dc:creator>
  <cp:lastModifiedBy>Kiyunna Flourius</cp:lastModifiedBy>
  <cp:revision>43</cp:revision>
  <dcterms:created xsi:type="dcterms:W3CDTF">2017-10-05T16:25:19Z</dcterms:created>
  <dcterms:modified xsi:type="dcterms:W3CDTF">2017-10-23T02:18:22Z</dcterms:modified>
</cp:coreProperties>
</file>